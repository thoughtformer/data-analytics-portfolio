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63" r:id="rId8"/>
    <p:sldId id="264" r:id="rId9"/>
    <p:sldId id="265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5611DD-3688-4B4F-92E6-9DBADA70D04A}" v="920" dt="2026-09-22T23:25:17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122363"/>
            <a:ext cx="10746213" cy="2387600"/>
          </a:xfrm>
        </p:spPr>
        <p:txBody>
          <a:bodyPr/>
          <a:lstStyle/>
          <a:p>
            <a:pPr marL="285750" indent="-285750" algn="l">
              <a:spcBef>
                <a:spcPts val="1000"/>
              </a:spcBef>
            </a:pPr>
            <a:r>
              <a:rPr lang="en-US" sz="3600" dirty="0"/>
              <a:t>Closing the Digital Support Gap</a:t>
            </a:r>
            <a:br>
              <a:rPr lang="en-US" sz="3600" dirty="0"/>
            </a:br>
            <a:r>
              <a:rPr lang="en-US" sz="1800" dirty="0">
                <a:ea typeface="+mj-lt"/>
                <a:cs typeface="+mj-lt"/>
              </a:rPr>
              <a:t>Evaluating a Community Technology Pilot Through Public Data</a:t>
            </a:r>
            <a:endParaRPr lang="en-US" sz="1800" dirty="0"/>
          </a:p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7439" y="2682062"/>
            <a:ext cx="949712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400" dirty="0">
                <a:ea typeface="+mn-lt"/>
                <a:cs typeface="+mn-lt"/>
              </a:rPr>
              <a:t>Google Data Analytics Professional Certificate — Capstone Project</a:t>
            </a:r>
            <a:br>
              <a:rPr lang="en-US" sz="1400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Aaron Spoonts · September 2026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B056A-3C33-FFEC-7F22-D26D7B19C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98" y="365125"/>
            <a:ext cx="11770111" cy="1344148"/>
          </a:xfrm>
        </p:spPr>
        <p:txBody>
          <a:bodyPr>
            <a:normAutofit/>
          </a:bodyPr>
          <a:lstStyle/>
          <a:p>
            <a:r>
              <a:rPr lang="en-US" sz="2800" b="1" dirty="0">
                <a:ea typeface="+mj-lt"/>
                <a:cs typeface="+mj-lt"/>
              </a:rPr>
              <a:t>Should a community organization fund a limited technology-support pilot?</a:t>
            </a:r>
            <a:endParaRPr lang="en-US" sz="28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FBB08-2655-3BDA-5EE0-0DE76F801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21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ea typeface="+mn-lt"/>
                <a:cs typeface="+mn-lt"/>
              </a:rPr>
              <a:t>The proposed pilot combines:</a:t>
            </a: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000" b="1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Device refurbishment and reuse </a:t>
            </a:r>
            <a:endParaRPr lang="en-US" sz="18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Hands-on technical training </a:t>
            </a:r>
            <a:endParaRPr lang="en-US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Personalized digital support 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Priority population:</a:t>
            </a:r>
            <a:r>
              <a:rPr lang="en-US" sz="1800" dirty="0">
                <a:ea typeface="+mn-lt"/>
                <a:cs typeface="+mn-lt"/>
              </a:rPr>
              <a:t> Older adults and other groups showing lower levels of digital engagement.</a:t>
            </a:r>
            <a:endParaRPr lang="en-US" dirty="0"/>
          </a:p>
          <a:p>
            <a:pPr marL="0" indent="0">
              <a:buNone/>
            </a:pPr>
            <a:r>
              <a:rPr lang="en-US" sz="1800" b="1" dirty="0">
                <a:ea typeface="+mn-lt"/>
                <a:cs typeface="+mn-lt"/>
              </a:rPr>
              <a:t>Decision standard:</a:t>
            </a:r>
            <a:r>
              <a:rPr lang="en-US" sz="1800" dirty="0">
                <a:ea typeface="+mn-lt"/>
                <a:cs typeface="+mn-lt"/>
              </a:rPr>
              <a:t> Does the available evidence show enough measurable need, repair potential, and public benefit to justify a limited pilot?</a:t>
            </a:r>
            <a:br>
              <a:rPr lang="en-US" sz="2000" dirty="0">
                <a:ea typeface="+mn-lt"/>
                <a:cs typeface="+mn-lt"/>
              </a:rPr>
            </a:br>
            <a:endParaRPr lang="en-US" sz="18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4309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F977-2F9D-00D6-2D8A-243D2EBA4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a typeface="+mj-lt"/>
                <a:cs typeface="+mj-lt"/>
              </a:rPr>
              <a:t>Laptop use rises sharply with household income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C1B04F-1C14-3E33-D256-D7BAC2AC3753}"/>
              </a:ext>
            </a:extLst>
          </p:cNvPr>
          <p:cNvSpPr txBox="1"/>
          <p:nvPr/>
        </p:nvSpPr>
        <p:spPr>
          <a:xfrm>
            <a:off x="8665370" y="2381795"/>
            <a:ext cx="3254961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+mn-lt"/>
                <a:cs typeface="+mn-lt"/>
              </a:rPr>
              <a:t>43.4 percentage-point gap</a:t>
            </a:r>
          </a:p>
          <a:p>
            <a:endParaRPr lang="en-US" sz="2000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Laptop use rises from </a:t>
            </a:r>
            <a:r>
              <a:rPr lang="en-US" b="1" dirty="0">
                <a:ea typeface="+mn-lt"/>
                <a:cs typeface="+mn-lt"/>
              </a:rPr>
              <a:t>41.2%</a:t>
            </a:r>
            <a:r>
              <a:rPr lang="en-US" dirty="0">
                <a:ea typeface="+mn-lt"/>
                <a:cs typeface="+mn-lt"/>
              </a:rPr>
              <a:t> among households under $25,000 to </a:t>
            </a:r>
            <a:r>
              <a:rPr lang="en-US" b="1" dirty="0">
                <a:ea typeface="+mn-lt"/>
                <a:cs typeface="+mn-lt"/>
              </a:rPr>
              <a:t>84.6%</a:t>
            </a:r>
            <a:r>
              <a:rPr lang="en-US" dirty="0">
                <a:ea typeface="+mn-lt"/>
                <a:cs typeface="+mn-lt"/>
              </a:rPr>
              <a:t> among households earning $150,000 or more.</a:t>
            </a:r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5400AA1-81E4-30CF-B18E-FC5C190C9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2465" y="1295943"/>
            <a:ext cx="6713000" cy="48345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FDBB23-4FB6-AC64-9315-7A2AEAA563D4}"/>
              </a:ext>
            </a:extLst>
          </p:cNvPr>
          <p:cNvSpPr txBox="1"/>
          <p:nvPr/>
        </p:nvSpPr>
        <p:spPr>
          <a:xfrm>
            <a:off x="2180" y="6453481"/>
            <a:ext cx="408281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Source:</a:t>
            </a:r>
            <a:r>
              <a:rPr lang="en-US" sz="1000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 National Telecommunications and Information Administration (NTIA), 2023 Internet Use Survey; author’s weighted analysis.</a:t>
            </a:r>
            <a:endParaRPr lang="en-US" sz="1000">
              <a:solidFill>
                <a:schemeClr val="bg1">
                  <a:lumMod val="49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924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675B8-F568-9658-6C82-1663B95A0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6B331-54F8-3163-FB68-530DC9EAD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441259" cy="1130417"/>
          </a:xfrm>
        </p:spPr>
        <p:txBody>
          <a:bodyPr>
            <a:normAutofit/>
          </a:bodyPr>
          <a:lstStyle/>
          <a:p>
            <a:r>
              <a:rPr lang="en-US" sz="2800" b="1" dirty="0">
                <a:ea typeface="+mj-lt"/>
                <a:cs typeface="+mj-lt"/>
              </a:rPr>
              <a:t>Older adults report lower use of internet-based financial services across income levels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0E6B0C-E395-8E20-5555-2468C6C4AD67}"/>
              </a:ext>
            </a:extLst>
          </p:cNvPr>
          <p:cNvSpPr txBox="1"/>
          <p:nvPr/>
        </p:nvSpPr>
        <p:spPr>
          <a:xfrm>
            <a:off x="8665370" y="2381795"/>
            <a:ext cx="3254961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+mn-lt"/>
                <a:cs typeface="+mn-lt"/>
              </a:rPr>
              <a:t>63.2% vs 81.6%</a:t>
            </a:r>
            <a:endParaRPr lang="en-US" dirty="0"/>
          </a:p>
          <a:p>
            <a:endParaRPr lang="en-US" sz="2000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Internet financial-services use was 63.2% among adults age 65+, compared with 81.6% among adults ages 18–64.</a:t>
            </a:r>
          </a:p>
          <a:p>
            <a:endParaRPr lang="en-US" sz="1600" dirty="0">
              <a:solidFill>
                <a:schemeClr val="bg1">
                  <a:lumMod val="49000"/>
                </a:schemeClr>
              </a:solidFill>
              <a:ea typeface="+mn-lt"/>
              <a:cs typeface="+mn-lt"/>
            </a:endParaRPr>
          </a:p>
          <a:p>
            <a:r>
              <a:rPr lang="en-US" sz="1600" i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The age gap persists across every household-income group shown.</a:t>
            </a:r>
            <a:endParaRPr lang="en-US" sz="1600" i="1">
              <a:solidFill>
                <a:schemeClr val="bg1">
                  <a:lumMod val="49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 dirty="0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065DB2-D22A-BBC5-E9FC-0B65AF9248AE}"/>
              </a:ext>
            </a:extLst>
          </p:cNvPr>
          <p:cNvSpPr txBox="1"/>
          <p:nvPr/>
        </p:nvSpPr>
        <p:spPr>
          <a:xfrm>
            <a:off x="2180" y="6211871"/>
            <a:ext cx="40828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 dirty="0">
                <a:solidFill>
                  <a:srgbClr val="898989"/>
                </a:solidFill>
                <a:ea typeface="+mn-lt"/>
                <a:cs typeface="+mn-lt"/>
              </a:rPr>
              <a:t>Source:</a:t>
            </a:r>
            <a:r>
              <a:rPr lang="en-US" sz="900" dirty="0">
                <a:solidFill>
                  <a:srgbClr val="898989"/>
                </a:solidFill>
                <a:ea typeface="+mn-lt"/>
                <a:cs typeface="+mn-lt"/>
              </a:rPr>
              <a:t> National Telecommunications and Information Administration (NTIA), 2023 Internet Use Survey, Current Population Survey (CPS) Computer and Internet Use Supplement; </a:t>
            </a:r>
            <a:r>
              <a:rPr lang="en-US" sz="900" i="1" dirty="0">
                <a:solidFill>
                  <a:srgbClr val="898989"/>
                </a:solidFill>
                <a:ea typeface="+mn-lt"/>
                <a:cs typeface="+mn-lt"/>
              </a:rPr>
              <a:t>author’s weighted analysis of internet-based financial-services use by age group and household income.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1FEF061-2075-0DF5-4252-0FC0ABF05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8135" y="1500381"/>
            <a:ext cx="6739436" cy="434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92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06BC-968F-4401-D624-59D434D28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95235-0A8B-B345-1CF3-3F05C727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4613"/>
            <a:ext cx="10515600" cy="656491"/>
          </a:xfrm>
        </p:spPr>
        <p:txBody>
          <a:bodyPr>
            <a:normAutofit/>
          </a:bodyPr>
          <a:lstStyle/>
          <a:p>
            <a:r>
              <a:rPr lang="en-US" sz="2800" b="1" dirty="0">
                <a:ea typeface="+mj-lt"/>
                <a:cs typeface="+mj-lt"/>
              </a:rPr>
              <a:t>Most core-device records were fixed or remained repairable</a:t>
            </a:r>
            <a:endParaRPr lang="en-US" dirty="0"/>
          </a:p>
          <a:p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93DC9-105C-AB47-401A-43D1500D91EE}"/>
              </a:ext>
            </a:extLst>
          </p:cNvPr>
          <p:cNvSpPr txBox="1"/>
          <p:nvPr/>
        </p:nvSpPr>
        <p:spPr>
          <a:xfrm>
            <a:off x="8665370" y="2381795"/>
            <a:ext cx="3254961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+mn-lt"/>
                <a:cs typeface="+mn-lt"/>
              </a:rPr>
              <a:t>52.9%</a:t>
            </a:r>
            <a:r>
              <a:rPr lang="en-US" sz="2400" dirty="0">
                <a:ea typeface="+mn-lt"/>
                <a:cs typeface="+mn-lt"/>
              </a:rPr>
              <a:t> of records were fixed and another </a:t>
            </a:r>
            <a:r>
              <a:rPr lang="en-US" sz="2400" b="1" dirty="0">
                <a:ea typeface="+mn-lt"/>
                <a:cs typeface="+mn-lt"/>
              </a:rPr>
              <a:t>26.3%</a:t>
            </a:r>
            <a:r>
              <a:rPr lang="en-US" sz="2400" dirty="0">
                <a:ea typeface="+mn-lt"/>
                <a:cs typeface="+mn-lt"/>
              </a:rPr>
              <a:t> remained repairable.</a:t>
            </a:r>
            <a:endParaRPr lang="en-US" sz="2400"/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1600" i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“Repairable” does </a:t>
            </a:r>
            <a:r>
              <a:rPr lang="en-US" sz="1600" b="1" i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not</a:t>
            </a:r>
            <a:r>
              <a:rPr lang="en-US" sz="1600" i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 mean the device was successfully repaired during the recorded attempt.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AD3536-3D0C-6197-5722-6F2F66038EC9}"/>
              </a:ext>
            </a:extLst>
          </p:cNvPr>
          <p:cNvSpPr txBox="1"/>
          <p:nvPr/>
        </p:nvSpPr>
        <p:spPr>
          <a:xfrm>
            <a:off x="2180" y="6211871"/>
            <a:ext cx="40828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 dirty="0">
                <a:solidFill>
                  <a:srgbClr val="898989"/>
                </a:solidFill>
                <a:ea typeface="+mn-lt"/>
                <a:cs typeface="+mn-lt"/>
              </a:rPr>
              <a:t>Source:</a:t>
            </a:r>
            <a:r>
              <a:rPr lang="en-US" sz="900" dirty="0">
                <a:solidFill>
                  <a:srgbClr val="898989"/>
                </a:solidFill>
                <a:ea typeface="+mn-lt"/>
                <a:cs typeface="+mn-lt"/>
              </a:rPr>
              <a:t> Open Repair Alliance, Open Repair Data; author’s analysis. Repair status reflects outcomes of community repair attempts.</a:t>
            </a:r>
            <a:r>
              <a:rPr lang="en-US" sz="900" i="1" dirty="0">
                <a:solidFill>
                  <a:srgbClr val="898989"/>
                </a:solidFill>
                <a:ea typeface="+mn-lt"/>
                <a:cs typeface="+mn-lt"/>
              </a:rPr>
              <a:t> “Repairable” means the item was considered repairable but was </a:t>
            </a:r>
            <a:r>
              <a:rPr lang="en-US" sz="900" b="1" i="1" dirty="0">
                <a:solidFill>
                  <a:srgbClr val="898989"/>
                </a:solidFill>
                <a:ea typeface="+mn-lt"/>
                <a:cs typeface="+mn-lt"/>
              </a:rPr>
              <a:t>not necessarily fixed during the recorded repair attempt</a:t>
            </a:r>
            <a:r>
              <a:rPr lang="en-US" sz="900" i="1" dirty="0">
                <a:solidFill>
                  <a:srgbClr val="898989"/>
                </a:solidFill>
                <a:ea typeface="+mn-lt"/>
                <a:cs typeface="+mn-lt"/>
              </a:rPr>
              <a:t>. 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EBC05F-B9E5-6FBF-A9C6-F3D8530DA1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7713" y="1054332"/>
            <a:ext cx="6847963" cy="496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604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5FFAB-F5BC-BF7C-FC21-12DDC69EE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EFA09-B1AD-6469-2480-637900961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a typeface="+mj-lt"/>
                <a:cs typeface="+mj-lt"/>
              </a:rPr>
              <a:t>Most documented end-of-life barriers were potentially addressable</a:t>
            </a:r>
            <a:endParaRPr lang="en-US" b="1">
              <a:ea typeface="+mj-lt"/>
              <a:cs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F54AE7-962B-0A10-6B87-634341B6A3DE}"/>
              </a:ext>
            </a:extLst>
          </p:cNvPr>
          <p:cNvSpPr txBox="1"/>
          <p:nvPr/>
        </p:nvSpPr>
        <p:spPr>
          <a:xfrm>
            <a:off x="8098516" y="2381795"/>
            <a:ext cx="3254961" cy="298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Most documented barriers involved </a:t>
            </a:r>
            <a:r>
              <a:rPr lang="en-US" sz="2000" b="1" dirty="0">
                <a:ea typeface="+mn-lt"/>
                <a:cs typeface="+mn-lt"/>
              </a:rPr>
              <a:t>information, tools, product access, parts cost, or parts availability</a:t>
            </a:r>
            <a:r>
              <a:rPr lang="en-US" sz="2000" dirty="0">
                <a:ea typeface="+mn-lt"/>
                <a:cs typeface="+mn-lt"/>
              </a:rPr>
              <a:t> rather than simple device wear-out.</a:t>
            </a:r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1600" i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Barrier information was documented for only </a:t>
            </a:r>
            <a:r>
              <a:rPr lang="en-US" sz="1600" b="1" i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29.0%</a:t>
            </a:r>
            <a:r>
              <a:rPr lang="en-US" sz="1600" i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 of core-device end-of-life records.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A92C6F-6CF0-593F-2685-00239538C957}"/>
              </a:ext>
            </a:extLst>
          </p:cNvPr>
          <p:cNvSpPr txBox="1"/>
          <p:nvPr/>
        </p:nvSpPr>
        <p:spPr>
          <a:xfrm>
            <a:off x="2180" y="6351261"/>
            <a:ext cx="4082814" cy="5078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 dirty="0">
                <a:solidFill>
                  <a:srgbClr val="898989"/>
                </a:solidFill>
                <a:ea typeface="+mn-lt"/>
                <a:cs typeface="+mn-lt"/>
              </a:rPr>
              <a:t>Source: Open Repair Alliance, Open Repair Data; author’s analysis. </a:t>
            </a:r>
            <a:r>
              <a:rPr lang="en-US" sz="900" i="1" dirty="0">
                <a:solidFill>
                  <a:srgbClr val="898989"/>
                </a:solidFill>
                <a:ea typeface="+mn-lt"/>
                <a:cs typeface="+mn-lt"/>
              </a:rPr>
              <a:t>Note: Barrier data were available for 1,173 of 4,047 core-device end-of-life records (29.0%); percentages shown are among documented barriers only.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591B4F0-A0E3-6816-6070-0CC87F90A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159" b="-194"/>
          <a:stretch>
            <a:fillRect/>
          </a:stretch>
        </p:blipFill>
        <p:spPr>
          <a:xfrm>
            <a:off x="1345600" y="1249479"/>
            <a:ext cx="6173148" cy="509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59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386C-AB16-A2BB-358B-93524CC7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1A20B-E373-3B2A-85A1-0CC15B176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40843" cy="1344148"/>
          </a:xfrm>
        </p:spPr>
        <p:txBody>
          <a:bodyPr>
            <a:normAutofit/>
          </a:bodyPr>
          <a:lstStyle/>
          <a:p>
            <a:r>
              <a:rPr lang="en-US" sz="2800" b="1" dirty="0">
                <a:ea typeface="+mj-lt"/>
                <a:cs typeface="+mj-lt"/>
              </a:rPr>
              <a:t>Reuse offers a much larger modeled emissions benefit than recycling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5F2DC-F4A8-DB8A-CB8F-E8A4E9F8A4AE}"/>
              </a:ext>
            </a:extLst>
          </p:cNvPr>
          <p:cNvSpPr txBox="1"/>
          <p:nvPr/>
        </p:nvSpPr>
        <p:spPr>
          <a:xfrm>
            <a:off x="9538882" y="1712722"/>
            <a:ext cx="2214181" cy="46474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+mn-lt"/>
                <a:cs typeface="+mn-lt"/>
              </a:rPr>
              <a:t>41.13 </a:t>
            </a:r>
            <a:r>
              <a:rPr lang="en-US" sz="2400" b="1" dirty="0" err="1">
                <a:ea typeface="+mn-lt"/>
                <a:cs typeface="+mn-lt"/>
              </a:rPr>
              <a:t>MTCO₂e</a:t>
            </a:r>
            <a:endParaRPr lang="en-US" sz="2400" b="1"/>
          </a:p>
          <a:p>
            <a:endParaRPr lang="en-US" b="1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Reusing </a:t>
            </a:r>
            <a:r>
              <a:rPr lang="en-US" sz="1600" b="1" dirty="0">
                <a:ea typeface="+mn-lt"/>
                <a:cs typeface="+mn-lt"/>
              </a:rPr>
              <a:t>500 portable devices</a:t>
            </a:r>
            <a:r>
              <a:rPr lang="en-US" sz="1600" dirty="0">
                <a:ea typeface="+mn-lt"/>
                <a:cs typeface="+mn-lt"/>
              </a:rPr>
              <a:t> instead of landfilling them produced a modeled benefit of </a:t>
            </a:r>
            <a:r>
              <a:rPr lang="en-US" sz="1600" b="1" dirty="0">
                <a:ea typeface="+mn-lt"/>
                <a:cs typeface="+mn-lt"/>
              </a:rPr>
              <a:t>41.13 metric tons of carbon dioxide equivalent (</a:t>
            </a:r>
            <a:r>
              <a:rPr lang="en-US" sz="1600" b="1" dirty="0" err="1">
                <a:ea typeface="+mn-lt"/>
                <a:cs typeface="+mn-lt"/>
              </a:rPr>
              <a:t>MTCO₂e</a:t>
            </a:r>
            <a:r>
              <a:rPr lang="en-US" sz="1600" b="1" dirty="0">
                <a:ea typeface="+mn-lt"/>
                <a:cs typeface="+mn-lt"/>
              </a:rPr>
              <a:t>)</a:t>
            </a:r>
            <a:r>
              <a:rPr lang="en-US" sz="1600" dirty="0">
                <a:ea typeface="+mn-lt"/>
                <a:cs typeface="+mn-lt"/>
              </a:rPr>
              <a:t>.</a:t>
            </a:r>
          </a:p>
          <a:p>
            <a:endParaRPr lang="en-US" dirty="0"/>
          </a:p>
          <a:p>
            <a:r>
              <a:rPr lang="en-US" sz="1600" dirty="0">
                <a:ea typeface="+mn-lt"/>
                <a:cs typeface="+mn-lt"/>
              </a:rPr>
              <a:t>Recycling the same modeled device mass avoided </a:t>
            </a:r>
            <a:r>
              <a:rPr lang="en-US" sz="1600" b="1" dirty="0">
                <a:ea typeface="+mn-lt"/>
                <a:cs typeface="+mn-lt"/>
              </a:rPr>
              <a:t>1.49 </a:t>
            </a:r>
            <a:r>
              <a:rPr lang="en-US" sz="1600" b="1" dirty="0" err="1">
                <a:ea typeface="+mn-lt"/>
                <a:cs typeface="+mn-lt"/>
              </a:rPr>
              <a:t>MTCO₂e</a:t>
            </a:r>
            <a:r>
              <a:rPr lang="en-US" sz="1600" dirty="0">
                <a:ea typeface="+mn-lt"/>
                <a:cs typeface="+mn-lt"/>
              </a:rPr>
              <a:t>.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endParaRPr lang="en-US" dirty="0">
              <a:solidFill>
                <a:schemeClr val="bg1">
                  <a:lumMod val="49000"/>
                </a:schemeClr>
              </a:solidFill>
            </a:endParaRPr>
          </a:p>
          <a:p>
            <a:r>
              <a:rPr lang="en-US" sz="1400" i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These are </a:t>
            </a:r>
            <a:r>
              <a:rPr lang="en-US" sz="1400" b="1" i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scenario estimates</a:t>
            </a:r>
            <a:r>
              <a:rPr lang="en-US" sz="1400" i="1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, not measured program outcomes.</a:t>
            </a:r>
            <a:endParaRPr lang="en-US" sz="1400" i="1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4628DE-FDD5-6C58-2B24-519818197AFF}"/>
              </a:ext>
            </a:extLst>
          </p:cNvPr>
          <p:cNvSpPr txBox="1"/>
          <p:nvPr/>
        </p:nvSpPr>
        <p:spPr>
          <a:xfrm>
            <a:off x="2180" y="6211871"/>
            <a:ext cx="408281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 dirty="0">
                <a:solidFill>
                  <a:srgbClr val="898989"/>
                </a:solidFill>
                <a:ea typeface="+mn-lt"/>
                <a:cs typeface="+mn-lt"/>
              </a:rPr>
              <a:t>Source:</a:t>
            </a:r>
            <a:r>
              <a:rPr lang="en-US" sz="900" dirty="0">
                <a:solidFill>
                  <a:srgbClr val="898989"/>
                </a:solidFill>
                <a:ea typeface="+mn-lt"/>
                <a:cs typeface="+mn-lt"/>
              </a:rPr>
              <a:t> U.S. Environmental Protection Agency (EPA), Waste Reduction Model (WARM), electronics factors; author’s scenario analysis. Assumes 500 portable electronic devices averaging 2.5 kg each. </a:t>
            </a:r>
            <a:r>
              <a:rPr lang="en-US" sz="900" i="1" dirty="0">
                <a:solidFill>
                  <a:srgbClr val="898989"/>
                </a:solidFill>
                <a:ea typeface="+mn-lt"/>
                <a:cs typeface="+mn-lt"/>
              </a:rPr>
              <a:t>Results are modeled estimates, not observed program outcomes.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92A6EB-E354-664F-938D-9F7EDAE2E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8858" y="2086884"/>
            <a:ext cx="90297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211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C8CA7-940E-AF53-8F87-9C313A713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57DE-C113-CC28-C959-66D64836C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5444" y="169979"/>
            <a:ext cx="8341113" cy="517100"/>
          </a:xfrm>
        </p:spPr>
        <p:txBody>
          <a:bodyPr>
            <a:normAutofit/>
          </a:bodyPr>
          <a:lstStyle/>
          <a:p>
            <a:r>
              <a:rPr lang="en-US" sz="2800" b="1" dirty="0">
                <a:ea typeface="+mj-lt"/>
                <a:cs typeface="+mj-lt"/>
              </a:rPr>
              <a:t>Integrated Evidence for a Community Technology Pilot</a:t>
            </a:r>
            <a:endParaRPr lang="en-US" sz="2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CF8DAF-E6A0-6244-4F2A-B92A748D1E9C}"/>
              </a:ext>
            </a:extLst>
          </p:cNvPr>
          <p:cNvSpPr txBox="1"/>
          <p:nvPr/>
        </p:nvSpPr>
        <p:spPr>
          <a:xfrm>
            <a:off x="2180" y="6072481"/>
            <a:ext cx="4082814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b="1" dirty="0">
                <a:solidFill>
                  <a:srgbClr val="898989"/>
                </a:solidFill>
                <a:ea typeface="+mn-lt"/>
                <a:cs typeface="+mn-lt"/>
              </a:rPr>
              <a:t>Sources:</a:t>
            </a:r>
            <a:r>
              <a:rPr lang="en-US" sz="900" dirty="0">
                <a:solidFill>
                  <a:srgbClr val="898989"/>
                </a:solidFill>
                <a:ea typeface="+mn-lt"/>
                <a:cs typeface="+mn-lt"/>
              </a:rPr>
              <a:t> National Telecommunications and Information Administration (NTIA), 2023 Internet Use Survey; Open Repair Alliance, Open Repair Data; U.S. Environmental Protection Agency (EPA), Waste Reduction Model (WARM); author’s analysis. </a:t>
            </a:r>
            <a:r>
              <a:rPr lang="en-US" sz="900" i="1" dirty="0">
                <a:solidFill>
                  <a:srgbClr val="898989"/>
                </a:solidFill>
                <a:ea typeface="+mn-lt"/>
                <a:cs typeface="+mn-lt"/>
              </a:rPr>
              <a:t>WARM result is a modeled scenario, not an observed program outcome.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CE8A259-BDC4-AD82-28F6-9A5CE56AD4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6318" y="598992"/>
            <a:ext cx="7239364" cy="546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773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F9003-89C3-77C1-EE0C-6B7403A24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Beyond This Pilot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F4399-2A2A-55B7-F3E9-3CD430716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Fraud-awareness support</a:t>
            </a:r>
            <a:r>
              <a:rPr lang="en-US" sz="2400" dirty="0">
                <a:ea typeface="+mn-lt"/>
                <a:cs typeface="+mn-lt"/>
              </a:rPr>
              <a:t> </a:t>
            </a:r>
            <a:br>
              <a:rPr lang="en-US" sz="1800" dirty="0">
                <a:ea typeface="+mn-lt"/>
                <a:cs typeface="+mn-lt"/>
              </a:rPr>
            </a:b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Fraud-awareness support warrants its own pilot; evidence suggests intervention format (one-time vs. repeated/trusted contact) matters more than whether education happens at all, which this study didn't test.</a:t>
            </a:r>
            <a:br>
              <a:rPr lang="en-US" sz="1800" dirty="0">
                <a:ea typeface="+mn-lt"/>
                <a:cs typeface="+mn-lt"/>
              </a:rPr>
            </a:br>
            <a:br>
              <a:rPr lang="en-US" sz="1800" dirty="0">
                <a:ea typeface="+mn-lt"/>
                <a:cs typeface="+mn-lt"/>
              </a:rPr>
            </a:br>
            <a:endParaRPr lang="en-US" sz="1800" dirty="0"/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Environmental impact </a:t>
            </a:r>
            <a:br>
              <a:rPr lang="en-US" sz="2000" b="1" dirty="0">
                <a:ea typeface="+mn-lt"/>
                <a:cs typeface="+mn-lt"/>
              </a:rPr>
            </a:br>
            <a:br>
              <a:rPr lang="en-US" sz="1800" b="1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Environmental impact warrants better modeling, not a separate pilot; real WARM estimates should be calculated from the refurbishment pilot's actual device data once it exists, replacing the illustrative 500-device scenario.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538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65C0C7-6447-6A48-B930-05FF23C81BF5}"/>
              </a:ext>
            </a:extLst>
          </p:cNvPr>
          <p:cNvSpPr txBox="1"/>
          <p:nvPr/>
        </p:nvSpPr>
        <p:spPr>
          <a:xfrm>
            <a:off x="1451953" y="1285831"/>
            <a:ext cx="3179703" cy="49552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METHOD</a:t>
            </a:r>
            <a:br>
              <a:rPr lang="en-US" sz="1400" b="1" dirty="0">
                <a:ea typeface="+mn-lt"/>
                <a:cs typeface="+mn-lt"/>
              </a:rPr>
            </a:br>
            <a:br>
              <a:rPr lang="en-US" sz="1400" b="1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• National Telecommunications and Information Administration (NTIA) 2023 survey data analyzed using survey weights </a:t>
            </a:r>
            <a:br>
              <a:rPr lang="en-US" sz="1400" dirty="0">
                <a:ea typeface="+mn-lt"/>
                <a:cs typeface="+mn-lt"/>
              </a:rPr>
            </a:br>
            <a:endParaRPr lang="en-US" sz="1400" b="1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• Open Repair records filtered to laptops, desktops, mobile phones, and tablets </a:t>
            </a:r>
            <a:br>
              <a:rPr lang="en-US" sz="1400" dirty="0">
                <a:ea typeface="+mn-lt"/>
                <a:cs typeface="+mn-lt"/>
              </a:rPr>
            </a:br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• SQL used to independently validate key Python-derived results </a:t>
            </a:r>
            <a:br>
              <a:rPr lang="en-US" sz="1400" dirty="0">
                <a:ea typeface="+mn-lt"/>
                <a:cs typeface="+mn-lt"/>
              </a:rPr>
            </a:br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• U.S. Environmental Protection Agency (EPA) Waste Reduction Model (WARM) used for a defined 500-device reuse scenario </a:t>
            </a:r>
            <a:br>
              <a:rPr lang="en-US" sz="1400" dirty="0">
                <a:ea typeface="+mn-lt"/>
                <a:cs typeface="+mn-lt"/>
              </a:rPr>
            </a:br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• External evidence manually reviewed before inclusion</a:t>
            </a:r>
          </a:p>
          <a:p>
            <a:pPr marL="285750" indent="-285750"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E0FB36-EF0F-8A94-565A-6CD8CC522B84}"/>
              </a:ext>
            </a:extLst>
          </p:cNvPr>
          <p:cNvSpPr txBox="1"/>
          <p:nvPr/>
        </p:nvSpPr>
        <p:spPr>
          <a:xfrm>
            <a:off x="4627756" y="1282391"/>
            <a:ext cx="3048000" cy="48551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500"/>
              </a:lnSpc>
            </a:pPr>
            <a:r>
              <a:rPr lang="en-US" b="1" dirty="0">
                <a:cs typeface="Arial"/>
              </a:rPr>
              <a:t>LIMITATIONS</a:t>
            </a:r>
            <a:br>
              <a:rPr lang="en-US" sz="1400" b="1" dirty="0">
                <a:cs typeface="Arial"/>
              </a:rPr>
            </a:br>
            <a:endParaRPr lang="en-US" sz="1400" b="1" dirty="0">
              <a:cs typeface="Arial"/>
            </a:endParaRPr>
          </a:p>
          <a:p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• NTIA measures reported technology and internet use, not digital proficiency </a:t>
            </a:r>
            <a:b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</a:br>
            <a:endParaRPr lang="en-US"/>
          </a:p>
          <a:p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• </a:t>
            </a:r>
            <a:r>
              <a:rPr lang="en-US" sz="14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Open Repair 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data are self-selected and not nationally representative </a:t>
            </a:r>
            <a:b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</a:br>
            <a:endParaRPr lang="en-US"/>
          </a:p>
          <a:p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• Repair-barrier information was available for only 29.0% of core-device end-of-life </a:t>
            </a:r>
            <a:r>
              <a:rPr lang="en-US" sz="14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records </a:t>
            </a:r>
            <a:b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</a:br>
            <a:endParaRPr lang="en-US">
              <a:ea typeface="+mn-lt"/>
              <a:cs typeface="+mn-lt"/>
            </a:endParaRPr>
          </a:p>
          <a:p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• WARM </a:t>
            </a:r>
            <a:r>
              <a:rPr lang="en-US" sz="14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results 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are modeled estimates, not observed program outcomes </a:t>
            </a:r>
            <a:b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</a:br>
            <a:endParaRPr lang="en-US"/>
          </a:p>
          <a:p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• Findings support </a:t>
            </a:r>
            <a:r>
              <a:rPr lang="en-US" sz="1400" b="0" i="0" u="none" strike="noStrike" baseline="0" dirty="0">
                <a:solidFill>
                  <a:srgbClr val="000000"/>
                </a:solidFill>
                <a:ea typeface="+mn-lt"/>
                <a:cs typeface="+mn-lt"/>
              </a:rPr>
              <a:t>a 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pilot test, not immediate full-scale implementation</a:t>
            </a:r>
            <a:endParaRPr lang="en-US" dirty="0"/>
          </a:p>
          <a:p>
            <a:pPr marL="228600" lvl="0" indent="-228600" algn="l">
              <a:lnSpc>
                <a:spcPts val="1500"/>
              </a:lnSpc>
              <a:buFont typeface="Arial,Sans-Serif"/>
              <a:buChar char="•"/>
            </a:pPr>
            <a:endParaRPr lang="en-US" sz="1400" b="0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2E2359-79D7-D33A-8A21-61F4B2475790}"/>
              </a:ext>
            </a:extLst>
          </p:cNvPr>
          <p:cNvSpPr txBox="1"/>
          <p:nvPr/>
        </p:nvSpPr>
        <p:spPr>
          <a:xfrm>
            <a:off x="501230" y="6486293"/>
            <a:ext cx="6237111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dirty="0">
                <a:solidFill>
                  <a:schemeClr val="bg1">
                    <a:lumMod val="49000"/>
                  </a:schemeClr>
                </a:solidFill>
                <a:ea typeface="+mn-lt"/>
                <a:cs typeface="+mn-lt"/>
              </a:rPr>
              <a:t>github.com/Thoughtformer/data-analytics-portfolio</a:t>
            </a:r>
            <a:endParaRPr lang="en-US" sz="1100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5D6EF-12B7-AF55-1043-F8ACBB8BF11C}"/>
              </a:ext>
            </a:extLst>
          </p:cNvPr>
          <p:cNvSpPr txBox="1"/>
          <p:nvPr/>
        </p:nvSpPr>
        <p:spPr>
          <a:xfrm>
            <a:off x="7675756" y="1282391"/>
            <a:ext cx="3048000" cy="42627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AI USE</a:t>
            </a:r>
            <a:r>
              <a:rPr lang="en-US" dirty="0">
                <a:ea typeface="+mn-lt"/>
                <a:cs typeface="+mn-lt"/>
              </a:rPr>
              <a:t> </a:t>
            </a:r>
            <a:br>
              <a:rPr lang="en-US" sz="1400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 </a:t>
            </a:r>
            <a:endParaRPr lang="en-US" dirty="0"/>
          </a:p>
          <a:p>
            <a:r>
              <a:rPr lang="en-US" sz="1400" dirty="0">
                <a:ea typeface="+mn-lt"/>
                <a:cs typeface="+mn-lt"/>
              </a:rPr>
              <a:t>• Artificial intelligence tools assisted with source discovery, code drafting, workflow planning, summarization, and documentation. </a:t>
            </a:r>
            <a:br>
              <a:rPr lang="en-US" sz="1400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 </a:t>
            </a:r>
            <a:br>
              <a:rPr lang="en-US" sz="1400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• External sources and analytical outputs were manually reviewed and validated. </a:t>
            </a:r>
            <a:br>
              <a:rPr lang="en-US" sz="1400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 </a:t>
            </a:r>
            <a:br>
              <a:rPr lang="en-US" sz="1400" dirty="0">
                <a:ea typeface="+mn-lt"/>
                <a:cs typeface="+mn-lt"/>
              </a:rPr>
            </a:br>
            <a:r>
              <a:rPr lang="en-US" sz="1400" dirty="0">
                <a:ea typeface="+mn-lt"/>
                <a:cs typeface="+mn-lt"/>
              </a:rPr>
              <a:t>• Final decisions regarding data selection, methodology, interpretation, limitations, and recommendations were made by the analyst. </a:t>
            </a:r>
            <a:endParaRPr lang="en-US" dirty="0"/>
          </a:p>
          <a:p>
            <a:pPr>
              <a:lnSpc>
                <a:spcPts val="1500"/>
              </a:lnSpc>
            </a:pPr>
            <a:endParaRPr lang="en-US" sz="1400" b="1" dirty="0">
              <a:cs typeface="Arial"/>
            </a:endParaRPr>
          </a:p>
          <a:p>
            <a:pPr marL="228600" lvl="0" indent="-228600" algn="l">
              <a:lnSpc>
                <a:spcPts val="1500"/>
              </a:lnSpc>
              <a:buFont typeface="Arial,Sans-Serif"/>
              <a:buChar char="•"/>
            </a:pPr>
            <a:endParaRPr lang="en-US" sz="1400" b="0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5B8DFE-DFB0-5F10-3461-A5A771B234FC}"/>
              </a:ext>
            </a:extLst>
          </p:cNvPr>
          <p:cNvSpPr txBox="1"/>
          <p:nvPr/>
        </p:nvSpPr>
        <p:spPr>
          <a:xfrm>
            <a:off x="1450118" y="456603"/>
            <a:ext cx="9162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ea typeface="+mn-lt"/>
                <a:cs typeface="+mn-lt"/>
              </a:rPr>
              <a:t>Methodology, Limitations &amp; AI-Assisted Workflow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395474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Closing the Digital Support Gap Evaluating a Community Technology Pilot Through Public Data </vt:lpstr>
      <vt:lpstr>Should a community organization fund a limited technology-support pilot?</vt:lpstr>
      <vt:lpstr>Laptop use rises sharply with household income</vt:lpstr>
      <vt:lpstr>Older adults report lower use of internet-based financial services across income levels</vt:lpstr>
      <vt:lpstr>Most core-device records were fixed or remained repairable </vt:lpstr>
      <vt:lpstr>Most documented end-of-life barriers were potentially addressable</vt:lpstr>
      <vt:lpstr>Reuse offers a much larger modeled emissions benefit than recycling</vt:lpstr>
      <vt:lpstr>Integrated Evidence for a Community Technology Pilot</vt:lpstr>
      <vt:lpstr>Beyond This Pilot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375</cp:revision>
  <dcterms:created xsi:type="dcterms:W3CDTF">2026-09-22T06:41:37Z</dcterms:created>
  <dcterms:modified xsi:type="dcterms:W3CDTF">2026-09-22T23:26:11Z</dcterms:modified>
</cp:coreProperties>
</file>